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2" r:id="rId4"/>
    <p:sldId id="257" r:id="rId5"/>
    <p:sldId id="258" r:id="rId6"/>
    <p:sldId id="261" r:id="rId7"/>
    <p:sldId id="260" r:id="rId8"/>
    <p:sldId id="263" r:id="rId9"/>
    <p:sldId id="259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9CC86-F2B6-4CF7-9EA4-E6572A6B8F52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395052-92F1-446F-A12C-768C8E8CC785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6237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dirty="0"/>
              <a:t>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395052-92F1-446F-A12C-768C8E8CC785}" type="slidenum">
              <a:rPr lang="en-NZ" smtClean="0"/>
              <a:t>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403568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E51F-4C7C-DAEB-7D8C-C9E0B1358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0A7A5-936B-FCDC-99F5-395817A34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99D6-8140-9B0F-2EBA-DB5DFF4D0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16E32-C4C4-2A05-4CCF-24862DFF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41584-428F-B1AE-7152-D9940FB39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1579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6DB7-7469-D366-FC4E-5951CD2C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F716E-575B-39D3-5861-914B10236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6169E-0362-C780-5F65-9BD03628C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F8F2D-6BBF-F15C-4640-7678D2953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3AD1E-A02D-F82E-4C37-D3B0740C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487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B079-D254-A501-41EB-A38C30074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1B514-9B2A-C86E-EC0C-16659BCBA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52F0-7AFB-D220-4E74-CFDC7DF2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A2453-89F9-1A4E-D710-E0FDA066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CB6C-FCF1-76AC-1D02-1FAFE00F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392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A624F-D6AE-BAD2-43EE-52F4CDCCE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930E3-1EFA-9FB2-9F3C-E252176A1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BE163-FBE8-C6A0-9BE9-835F5206D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85F7F-9B53-11F8-CB0B-D52D22E0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1FE8F-F30E-6114-FE94-1F74C78F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EE783-4CF3-1778-13F4-D00FCFAF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9497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79A2F-8F44-E656-B8D2-5A2C93215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75DA-BE31-9AAB-0034-B4096EA70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68B27-ABA5-1EC2-9C3F-6E262820A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E8092A-FCD8-0DDE-F97B-2FD3F0204C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54761-68BB-1230-DF85-DEE2962D4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24BE28-E4C6-CEC7-23EA-F2023C83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D1AEF6-39FB-0AF1-CEA8-FE102507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53BC0-6FA2-DC2A-AEF2-08AEFDC7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836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246F-A913-0266-D918-A2633B07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37F6D-F324-4808-EB0B-7F876171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B7133-1D77-02BB-BF38-B9107AAE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08505-8B6C-C168-0507-39DFB1CB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5079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54142-684E-32DF-601C-8E9F8F04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957E0-689C-25BE-D2AE-388AD38E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16780-1119-3E80-191F-9B8F715D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6315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EAFC8-4E06-0B85-3836-A11F273BF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36B5D-11CE-407A-075B-CFEA2AE58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7D6B3-CFA7-1FAC-1784-E3284D9E8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44767-C6A3-90A5-6C7B-224CE1B5E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1FEDA-80C8-6C3E-53E1-645A9F83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F76A5-CFB7-F882-5724-94782A711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87877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D11B2-151E-2F60-67FF-D5E7508C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722B41-5600-5907-AC8F-06F17C6CE6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A4187-1AA8-FD2A-FD33-B32670593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5A1D2-DB66-7DFB-96D6-EFD1816D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F5A33-F159-7339-ACD0-907339A5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443D8-B1D8-6E12-AC61-7718CF80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1847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7625-BF5D-29BA-A703-4669AC44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749BD-D155-48F6-BEEB-F610803CC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565DE-D4AF-9B8E-A5AA-6CF094E6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35B16-ED37-346E-7E82-E853619D3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2DE8D-3597-5789-447B-E115CE8E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77461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A84B43-6421-1D29-6A01-47CE2BE604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DCECC-24CD-A128-8735-F0B5B08A5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51A44-E472-CF3E-F4E0-931391D3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D4D74-513D-09EB-7E07-7C1AB15B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30B92-FF70-B84F-7129-AC79E88FB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7939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8E7D6-174B-204C-707E-9A71EC94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E834-5D4B-4507-4528-DC0585805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C14F7-8FF9-7A79-56B9-F9A4E56CE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8B759-44A3-4DD2-998C-BA64FE6305F9}" type="datetimeFigureOut">
              <a:rPr lang="en-NZ" smtClean="0"/>
              <a:t>14/09/2026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018BF-B7DA-641A-8718-72B6D58F5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99B42-AE06-449A-FD77-A4FD9BAA7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FF37DE-3759-40C8-91FF-0382297A5411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7834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5E818-0BA4-0206-525F-7FD08A1B7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966" y="4430064"/>
            <a:ext cx="5260868" cy="1297115"/>
          </a:xfrm>
        </p:spPr>
        <p:txBody>
          <a:bodyPr anchor="t">
            <a:normAutofit/>
          </a:bodyPr>
          <a:lstStyle/>
          <a:p>
            <a:pPr algn="l"/>
            <a:r>
              <a:rPr lang="en-US" altLang="zh-CN" sz="4800" dirty="0">
                <a:solidFill>
                  <a:schemeClr val="tx2"/>
                </a:solidFill>
              </a:rPr>
              <a:t>Architectural Design</a:t>
            </a:r>
            <a:endParaRPr lang="en-NZ" sz="48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8BA09-56A1-BC13-414D-139FBA68A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156156"/>
            <a:ext cx="5260564" cy="707922"/>
          </a:xfrm>
        </p:spPr>
        <p:txBody>
          <a:bodyPr anchor="b">
            <a:normAutofit/>
          </a:bodyPr>
          <a:lstStyle/>
          <a:p>
            <a:pPr algn="l"/>
            <a:r>
              <a:rPr lang="en-NZ" sz="2800" dirty="0">
                <a:solidFill>
                  <a:schemeClr val="tx2"/>
                </a:solidFill>
              </a:rPr>
              <a:t>Meeting 3</a:t>
            </a:r>
          </a:p>
        </p:txBody>
      </p:sp>
      <p:pic>
        <p:nvPicPr>
          <p:cNvPr id="7" name="Graphic 6" descr="City">
            <a:extLst>
              <a:ext uri="{FF2B5EF4-FFF2-40B4-BE49-F238E27FC236}">
                <a16:creationId xmlns:a16="http://schemas.microsoft.com/office/drawing/2014/main" id="{E103D9AA-E0DE-CDB5-939E-540E02BB92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00588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A9D3-2F71-3D0F-0A67-CA4C19D7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r>
              <a:rPr lang="en-NZ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A8C8-AA6F-2FB2-EF61-A98103F73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090"/>
            <a:ext cx="10515600" cy="4716873"/>
          </a:xfrm>
        </p:spPr>
        <p:txBody>
          <a:bodyPr/>
          <a:lstStyle/>
          <a:p>
            <a:r>
              <a:rPr lang="en-NZ" dirty="0"/>
              <a:t>Advantage of frontend-backend separation</a:t>
            </a:r>
            <a:endParaRPr lang="en-US" altLang="zh-CN" dirty="0"/>
          </a:p>
          <a:p>
            <a:r>
              <a:rPr lang="en-US" altLang="zh-CN" dirty="0"/>
              <a:t>Backend </a:t>
            </a:r>
            <a:r>
              <a:rPr lang="en-US" dirty="0"/>
              <a:t>Platform</a:t>
            </a:r>
          </a:p>
          <a:p>
            <a:r>
              <a:rPr lang="en-US" dirty="0"/>
              <a:t>Frontend Platform</a:t>
            </a:r>
          </a:p>
          <a:p>
            <a:r>
              <a:rPr lang="en-NZ" dirty="0"/>
              <a:t>Advantage of </a:t>
            </a:r>
            <a:r>
              <a:rPr lang="en-NZ" dirty="0" err="1"/>
              <a:t>Springboot</a:t>
            </a:r>
            <a:r>
              <a:rPr lang="en-NZ" dirty="0"/>
              <a:t> as backend</a:t>
            </a:r>
          </a:p>
          <a:p>
            <a:r>
              <a:rPr lang="en-NZ" dirty="0"/>
              <a:t>Advantage of </a:t>
            </a:r>
            <a:r>
              <a:rPr lang="en-US" altLang="zh-CN" dirty="0"/>
              <a:t>Vue</a:t>
            </a:r>
            <a:r>
              <a:rPr lang="en-NZ" altLang="zh-CN" dirty="0"/>
              <a:t>.</a:t>
            </a:r>
            <a:r>
              <a:rPr lang="en-NZ" altLang="zh-CN" dirty="0" err="1"/>
              <a:t>js</a:t>
            </a:r>
            <a:r>
              <a:rPr lang="en-NZ" altLang="zh-CN" dirty="0"/>
              <a:t> as frontend</a:t>
            </a:r>
          </a:p>
          <a:p>
            <a:r>
              <a:rPr lang="en-NZ" dirty="0"/>
              <a:t>Advantage of using MySQL tool as database</a:t>
            </a:r>
            <a:endParaRPr lang="en-US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31158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486B-41A2-59C1-7500-0A0491091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19" y="172217"/>
            <a:ext cx="11783961" cy="904415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dirty="0"/>
              <a:t>前后端分离的好处</a:t>
            </a:r>
            <a:endParaRPr lang="en-NZ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915EF-229B-9791-3C66-C11E49C3E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018" y="1076632"/>
            <a:ext cx="11783961" cy="560915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NZ" b="1" dirty="0">
                <a:latin typeface="Amasis MT Pro Light" panose="02040304050005020304" pitchFamily="18" charset="0"/>
              </a:rPr>
              <a:t> </a:t>
            </a:r>
            <a:r>
              <a:rPr lang="en-NZ" b="1" dirty="0" err="1">
                <a:latin typeface="Amasis MT Pro Light" panose="02040304050005020304" pitchFamily="18" charset="0"/>
              </a:rPr>
              <a:t>开发效率高，可并行开发</a:t>
            </a:r>
            <a:endParaRPr lang="en-NZ" b="1" dirty="0">
              <a:latin typeface="Amasis MT Pro Light" panose="02040304050005020304" pitchFamily="18" charset="0"/>
            </a:endParaRP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前后端团队可以同时开工，前端不用等后端写完页面逻辑，只要提前约定好接口文档</a:t>
            </a:r>
            <a:r>
              <a:rPr lang="zh-CN" altLang="en-US" dirty="0">
                <a:latin typeface="Amasis MT Pro Light" panose="02040304050005020304" pitchFamily="18" charset="0"/>
              </a:rPr>
              <a:t>。</a:t>
            </a:r>
            <a:r>
              <a:rPr lang="en-NZ" dirty="0" err="1">
                <a:latin typeface="Amasis MT Pro Light" panose="02040304050005020304" pitchFamily="18" charset="0"/>
              </a:rPr>
              <a:t>迭代速度加快</a:t>
            </a:r>
            <a:r>
              <a:rPr lang="zh-CN" altLang="en-US" dirty="0">
                <a:latin typeface="Amasis MT Pro Light" panose="02040304050005020304" pitchFamily="18" charset="0"/>
              </a:rPr>
              <a:t>。</a:t>
            </a:r>
            <a:endParaRPr lang="en-NZ" sz="2400" b="1" dirty="0">
              <a:latin typeface="Amasis MT Pro Light" panose="020403040500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NZ" b="1" dirty="0" err="1">
                <a:latin typeface="Amasis MT Pro Light" panose="02040304050005020304" pitchFamily="18" charset="0"/>
              </a:rPr>
              <a:t>职责清晰，专业分工</a:t>
            </a:r>
            <a:endParaRPr lang="en-NZ" b="1" dirty="0">
              <a:latin typeface="Amasis MT Pro Light" panose="02040304050005020304" pitchFamily="18" charset="0"/>
            </a:endParaRP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前端专注交互、体验、视觉、性能</a:t>
            </a:r>
            <a:r>
              <a:rPr lang="zh-CN" altLang="en-US" dirty="0">
                <a:latin typeface="Amasis MT Pro Light" panose="02040304050005020304" pitchFamily="18" charset="0"/>
              </a:rPr>
              <a:t>；</a:t>
            </a:r>
            <a:r>
              <a:rPr lang="en-NZ" dirty="0" err="1">
                <a:latin typeface="Amasis MT Pro Light" panose="02040304050005020304" pitchFamily="18" charset="0"/>
              </a:rPr>
              <a:t>后端专注业务逻辑、数据、安全、并发、数据库。各自用最擅长的技术栈</a:t>
            </a:r>
            <a:r>
              <a:rPr lang="zh-CN" altLang="en-US" dirty="0">
                <a:latin typeface="Amasis MT Pro Light" panose="02040304050005020304" pitchFamily="18" charset="0"/>
              </a:rPr>
              <a:t>。</a:t>
            </a:r>
            <a:endParaRPr lang="en-NZ" sz="2400" b="1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NZ" sz="2800" b="1" dirty="0">
                <a:latin typeface="Amasis MT Pro Light" panose="02040304050005020304" pitchFamily="18" charset="0"/>
              </a:rPr>
              <a:t>3. </a:t>
            </a:r>
            <a:r>
              <a:rPr lang="en-NZ" b="1" dirty="0" err="1">
                <a:latin typeface="Amasis MT Pro Light" panose="02040304050005020304" pitchFamily="18" charset="0"/>
              </a:rPr>
              <a:t>前端可以多端复用同一套后端</a:t>
            </a:r>
            <a:r>
              <a:rPr lang="zh-CN" altLang="en-US" b="1" dirty="0">
                <a:latin typeface="Amasis MT Pro Light" panose="02040304050005020304" pitchFamily="18" charset="0"/>
              </a:rPr>
              <a:t>，</a:t>
            </a:r>
            <a:r>
              <a:rPr lang="en-NZ" b="1" dirty="0" err="1">
                <a:latin typeface="Amasis MT Pro Light" panose="02040304050005020304" pitchFamily="18" charset="0"/>
              </a:rPr>
              <a:t>技术</a:t>
            </a:r>
            <a:r>
              <a:rPr lang="zh-CN" altLang="en-US" b="1" dirty="0">
                <a:latin typeface="Amasis MT Pro Light" panose="02040304050005020304" pitchFamily="18" charset="0"/>
              </a:rPr>
              <a:t>搭配</a:t>
            </a:r>
            <a:r>
              <a:rPr lang="en-NZ" b="1" dirty="0" err="1">
                <a:latin typeface="Amasis MT Pro Light" panose="02040304050005020304" pitchFamily="18" charset="0"/>
              </a:rPr>
              <a:t>更自由</a:t>
            </a:r>
            <a:r>
              <a:rPr lang="zh-CN" altLang="en-US" b="1" dirty="0">
                <a:latin typeface="Amasis MT Pro Light" panose="02040304050005020304" pitchFamily="18" charset="0"/>
              </a:rPr>
              <a:t>，</a:t>
            </a:r>
            <a:r>
              <a:rPr lang="en-NZ" b="1" dirty="0" err="1">
                <a:latin typeface="Amasis MT Pro Light" panose="02040304050005020304" pitchFamily="18" charset="0"/>
              </a:rPr>
              <a:t>系统更灵活</a:t>
            </a:r>
            <a:r>
              <a:rPr lang="zh-CN" altLang="en-US" b="1" dirty="0">
                <a:latin typeface="Amasis MT Pro Light" panose="02040304050005020304" pitchFamily="18" charset="0"/>
              </a:rPr>
              <a:t>。</a:t>
            </a:r>
            <a:endParaRPr lang="en-NZ" altLang="zh-CN" b="1" dirty="0">
              <a:latin typeface="Amasis MT Pro Light" panose="02040304050005020304" pitchFamily="18" charset="0"/>
            </a:endParaRP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前端改版、换框架，后端基本不用动</a:t>
            </a:r>
            <a:r>
              <a:rPr lang="zh-CN" altLang="en-US" dirty="0">
                <a:latin typeface="Amasis MT Pro Light" panose="02040304050005020304" pitchFamily="18" charset="0"/>
              </a:rPr>
              <a:t>；</a:t>
            </a:r>
            <a:r>
              <a:rPr lang="en-NZ" dirty="0" err="1">
                <a:latin typeface="Amasis MT Pro Light" panose="02040304050005020304" pitchFamily="18" charset="0"/>
              </a:rPr>
              <a:t>后端重构、换数据库、换语言，前端也基本不受影响</a:t>
            </a:r>
            <a:r>
              <a:rPr lang="en-NZ" dirty="0">
                <a:latin typeface="Amasis MT Pro Light" panose="02040304050005020304" pitchFamily="18" charset="0"/>
              </a:rPr>
              <a:t>。</a:t>
            </a: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前端可选</a:t>
            </a:r>
            <a:r>
              <a:rPr lang="en-NZ" dirty="0">
                <a:latin typeface="Amasis MT Pro Light" panose="02040304050005020304" pitchFamily="18" charset="0"/>
              </a:rPr>
              <a:t> </a:t>
            </a:r>
            <a:r>
              <a:rPr lang="en-NZ" dirty="0" err="1">
                <a:latin typeface="Amasis MT Pro Light" panose="02040304050005020304" pitchFamily="18" charset="0"/>
              </a:rPr>
              <a:t>Vue、React、Angular、Svelte</a:t>
            </a:r>
            <a:r>
              <a:rPr lang="zh-CN" altLang="en-US" dirty="0">
                <a:latin typeface="Amasis MT Pro Light" panose="02040304050005020304" pitchFamily="18" charset="0"/>
              </a:rPr>
              <a:t>，</a:t>
            </a:r>
            <a:r>
              <a:rPr lang="en-NZ" dirty="0" err="1">
                <a:latin typeface="Amasis MT Pro Light" panose="02040304050005020304" pitchFamily="18" charset="0"/>
              </a:rPr>
              <a:t>后端可选</a:t>
            </a:r>
            <a:r>
              <a:rPr lang="en-NZ" dirty="0">
                <a:latin typeface="Amasis MT Pro Light" panose="02040304050005020304" pitchFamily="18" charset="0"/>
              </a:rPr>
              <a:t> </a:t>
            </a:r>
            <a:r>
              <a:rPr lang="en-NZ" dirty="0" err="1">
                <a:latin typeface="Amasis MT Pro Light" panose="02040304050005020304" pitchFamily="18" charset="0"/>
              </a:rPr>
              <a:t>Java、Go、Node.js、Python、PHP</a:t>
            </a:r>
            <a:r>
              <a:rPr lang="zh-CN" altLang="en-US" dirty="0">
                <a:latin typeface="Amasis MT Pro Light" panose="02040304050005020304" pitchFamily="18" charset="0"/>
              </a:rPr>
              <a:t>，</a:t>
            </a:r>
            <a:r>
              <a:rPr lang="en-NZ" dirty="0" err="1">
                <a:latin typeface="Amasis MT Pro Light" panose="02040304050005020304" pitchFamily="18" charset="0"/>
              </a:rPr>
              <a:t>两边不必绑死在同一个技术体系内</a:t>
            </a:r>
            <a:r>
              <a:rPr lang="zh-CN" altLang="en-US" dirty="0">
                <a:latin typeface="Amasis MT Pro Light" panose="02040304050005020304" pitchFamily="18" charset="0"/>
              </a:rPr>
              <a:t>。</a:t>
            </a:r>
            <a:endParaRPr lang="en-NZ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endParaRPr lang="en-NZ" dirty="0"/>
          </a:p>
          <a:p>
            <a:pPr marL="0" indent="0">
              <a:buNone/>
            </a:pPr>
            <a:endParaRPr lang="en-NZ" b="1" dirty="0">
              <a:latin typeface="Amasis MT Pro Light" panose="02040304050005020304" pitchFamily="18" charset="0"/>
            </a:endParaRPr>
          </a:p>
          <a:p>
            <a:pPr marL="457200" lvl="1" indent="0">
              <a:buNone/>
            </a:pPr>
            <a:endParaRPr lang="en-NZ" dirty="0">
              <a:latin typeface="Amasis MT Pro Light" panose="02040304050005020304" pitchFamily="18" charset="0"/>
            </a:endParaRPr>
          </a:p>
          <a:p>
            <a:endParaRPr lang="en-NZ" b="1" dirty="0"/>
          </a:p>
          <a:p>
            <a:endParaRPr lang="en-NZ" b="1" dirty="0">
              <a:latin typeface="Amasis MT Pro Light" panose="02040304050005020304" pitchFamily="18" charset="0"/>
            </a:endParaRPr>
          </a:p>
          <a:p>
            <a:pPr marL="457200" lvl="1" indent="0">
              <a:buNone/>
            </a:pPr>
            <a:endParaRPr lang="en-NZ" dirty="0">
              <a:latin typeface="Amasis MT Pro Light" panose="020403040500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63203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35AD-F410-5B79-C657-42B5F14F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64"/>
            <a:ext cx="10515600" cy="814746"/>
          </a:xfrm>
        </p:spPr>
        <p:txBody>
          <a:bodyPr/>
          <a:lstStyle/>
          <a:p>
            <a:r>
              <a:rPr lang="en-US" altLang="zh-CN" b="1" dirty="0"/>
              <a:t>Backend </a:t>
            </a:r>
            <a:r>
              <a:rPr lang="en-US" b="1" dirty="0"/>
              <a:t>Platform</a:t>
            </a:r>
            <a:endParaRPr lang="en-NZ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48B4B-ED74-B666-8706-A5A2E2F9B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410"/>
            <a:ext cx="10515600" cy="5587361"/>
          </a:xfrm>
        </p:spPr>
        <p:txBody>
          <a:bodyPr>
            <a:normAutofit/>
          </a:bodyPr>
          <a:lstStyle/>
          <a:p>
            <a:r>
              <a:rPr lang="en-NZ" dirty="0"/>
              <a:t>Developing</a:t>
            </a:r>
            <a:r>
              <a:rPr lang="en-US" altLang="zh-CN" dirty="0"/>
              <a:t> Language: Java with JDK 21</a:t>
            </a:r>
          </a:p>
          <a:p>
            <a:r>
              <a:rPr lang="en-US" altLang="zh-CN" dirty="0"/>
              <a:t>IDE</a:t>
            </a:r>
            <a:r>
              <a:rPr lang="en-NZ" dirty="0"/>
              <a:t>: Eclipse</a:t>
            </a:r>
          </a:p>
          <a:p>
            <a:r>
              <a:rPr lang="en-NZ" dirty="0"/>
              <a:t>Library: Jackson as a third party running on JDK 21</a:t>
            </a:r>
          </a:p>
          <a:p>
            <a:r>
              <a:rPr lang="en-NZ" dirty="0"/>
              <a:t>Database: MySQL9.2.0</a:t>
            </a:r>
          </a:p>
          <a:p>
            <a:r>
              <a:rPr lang="en-NZ" dirty="0"/>
              <a:t>Mapping tool: Hibernate(Full ORM),</a:t>
            </a:r>
            <a:r>
              <a:rPr lang="en-NZ" altLang="zh-CN" dirty="0"/>
              <a:t> Automatically generates SQL. Can be used to convert from java sentence to MySQL.</a:t>
            </a:r>
          </a:p>
          <a:p>
            <a:r>
              <a:rPr lang="en-US" dirty="0"/>
              <a:t>Project management tool: Maven version 3.9.9</a:t>
            </a:r>
          </a:p>
          <a:p>
            <a:pPr lvl="0"/>
            <a:r>
              <a:rPr lang="en-NZ" dirty="0"/>
              <a:t>Framework: </a:t>
            </a:r>
            <a:r>
              <a:rPr lang="en-NZ" dirty="0" err="1"/>
              <a:t>SpringBoot</a:t>
            </a:r>
            <a:endParaRPr lang="en-NZ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E19DB-4B3F-83C1-DEBC-4B0D26CEA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128" y="182229"/>
            <a:ext cx="2846139" cy="9976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5AD6D2-A23B-CEAD-1650-29FC5108D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197" y="1337776"/>
            <a:ext cx="2267266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1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0A4-2E36-0094-98C8-D4D7963B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Frontend Platform: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FC8AC-A662-633A-4F92-6700A54ED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NZ" dirty="0"/>
              <a:t>HTML, CSS, and JavaScript as the frontend </a:t>
            </a:r>
          </a:p>
          <a:p>
            <a:r>
              <a:rPr lang="en-NZ" dirty="0"/>
              <a:t>Responsive Web Design layout: Bootstrap technology. </a:t>
            </a:r>
          </a:p>
          <a:p>
            <a:r>
              <a:rPr lang="en-NZ" dirty="0"/>
              <a:t>Vue.js: User interface used for web development.</a:t>
            </a:r>
          </a:p>
          <a:p>
            <a:r>
              <a:rPr lang="en-US" altLang="zh-CN" dirty="0"/>
              <a:t>Use Node.js, </a:t>
            </a:r>
            <a:r>
              <a:rPr lang="en-NZ" dirty="0"/>
              <a:t>a running environment for client </a:t>
            </a:r>
            <a:r>
              <a:rPr lang="en-US" altLang="zh-CN" dirty="0"/>
              <a:t>to </a:t>
            </a:r>
            <a:r>
              <a:rPr lang="en-NZ" dirty="0"/>
              <a:t>compile Vue components into browser-compatible assets such as HTML, CSS, and JavaScript.</a:t>
            </a:r>
            <a:endParaRPr lang="en-NZ" altLang="zh-CN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57454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D1A41-6205-550B-22F1-EFCA08CE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9" y="258916"/>
            <a:ext cx="11459496" cy="758724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dirty="0"/>
              <a:t>Vue</a:t>
            </a:r>
            <a:r>
              <a:rPr lang="en-NZ" altLang="zh-CN" sz="4000" dirty="0"/>
              <a:t>.</a:t>
            </a:r>
            <a:r>
              <a:rPr lang="en-NZ" altLang="zh-CN" sz="4000" dirty="0" err="1"/>
              <a:t>js</a:t>
            </a:r>
            <a:r>
              <a:rPr lang="en-NZ" sz="4000" dirty="0"/>
              <a:t> </a:t>
            </a:r>
            <a:r>
              <a:rPr lang="zh-CN" altLang="en-US" sz="4000" dirty="0"/>
              <a:t>作为开发前端的独特优势</a:t>
            </a:r>
            <a:endParaRPr lang="en-NZ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6AE2A-6FBA-48F5-756A-22E2C925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9" y="1194618"/>
            <a:ext cx="11459496" cy="540446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NZ" b="1" dirty="0" err="1">
                <a:latin typeface="Amasis MT Pro Light" panose="02040304050005020304" pitchFamily="18" charset="0"/>
              </a:rPr>
              <a:t>渐进式框架</a:t>
            </a:r>
            <a:r>
              <a:rPr lang="zh-CN" altLang="en-US" b="1" dirty="0">
                <a:latin typeface="Amasis MT Pro Light" panose="02040304050005020304" pitchFamily="18" charset="0"/>
              </a:rPr>
              <a:t>（</a:t>
            </a:r>
            <a:r>
              <a:rPr lang="en-NZ" b="1" dirty="0" err="1">
                <a:latin typeface="Amasis MT Pro Light" panose="02040304050005020304" pitchFamily="18" charset="0"/>
              </a:rPr>
              <a:t>可以从最简单的方式开始用，需要什么就加什么，不用一开始就接受整套体系</a:t>
            </a:r>
            <a:r>
              <a:rPr lang="zh-CN" altLang="en-US" b="1" dirty="0">
                <a:latin typeface="Amasis MT Pro Light" panose="02040304050005020304" pitchFamily="18" charset="0"/>
              </a:rPr>
              <a:t>）</a:t>
            </a:r>
            <a:r>
              <a:rPr lang="en-NZ" b="1" dirty="0">
                <a:latin typeface="Amasis MT Pro Light" panose="02040304050005020304" pitchFamily="18" charset="0"/>
              </a:rPr>
              <a:t>。</a:t>
            </a: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适配人群和项目跨度大</a:t>
            </a:r>
            <a:r>
              <a:rPr lang="en-NZ" dirty="0">
                <a:latin typeface="Amasis MT Pro Light" panose="02040304050005020304" pitchFamily="18" charset="0"/>
              </a:rPr>
              <a:t>(</a:t>
            </a:r>
            <a:r>
              <a:rPr lang="en-NZ" dirty="0" err="1">
                <a:latin typeface="Amasis MT Pro Light" panose="02040304050005020304" pitchFamily="18" charset="0"/>
              </a:rPr>
              <a:t>后端转前端</a:t>
            </a:r>
            <a:r>
              <a:rPr lang="zh-CN" altLang="en-US" dirty="0">
                <a:latin typeface="Amasis MT Pro Light" panose="02040304050005020304" pitchFamily="18" charset="0"/>
              </a:rPr>
              <a:t>，</a:t>
            </a:r>
            <a:r>
              <a:rPr lang="en-NZ" dirty="0" err="1">
                <a:latin typeface="Amasis MT Pro Light" panose="02040304050005020304" pitchFamily="18" charset="0"/>
              </a:rPr>
              <a:t>小团队快速开发</a:t>
            </a:r>
            <a:r>
              <a:rPr lang="zh-CN" altLang="en-US" dirty="0">
                <a:latin typeface="Amasis MT Pro Light" panose="02040304050005020304" pitchFamily="18" charset="0"/>
              </a:rPr>
              <a:t>，</a:t>
            </a:r>
            <a:r>
              <a:rPr lang="en-NZ" dirty="0" err="1">
                <a:latin typeface="Amasis MT Pro Light" panose="02040304050005020304" pitchFamily="18" charset="0"/>
              </a:rPr>
              <a:t>大团队企业级</a:t>
            </a:r>
            <a:r>
              <a:rPr lang="zh-CN" altLang="en-US" dirty="0">
                <a:latin typeface="Amasis MT Pro Light" panose="02040304050005020304" pitchFamily="18" charset="0"/>
              </a:rPr>
              <a:t>）</a:t>
            </a:r>
            <a:endParaRPr lang="en-NZ" dirty="0">
              <a:latin typeface="Amasis MT Pro Light" panose="02040304050005020304" pitchFamily="18" charset="0"/>
            </a:endParaRP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迁移成本低</a:t>
            </a:r>
            <a:r>
              <a:rPr lang="zh-CN" altLang="en-US" dirty="0">
                <a:latin typeface="Amasis MT Pro Light" panose="02040304050005020304" pitchFamily="18" charset="0"/>
              </a:rPr>
              <a:t>（</a:t>
            </a:r>
            <a:r>
              <a:rPr lang="en-NZ" dirty="0" err="1">
                <a:latin typeface="Amasis MT Pro Light" panose="02040304050005020304" pitchFamily="18" charset="0"/>
              </a:rPr>
              <a:t>可以只在一个页面引入</a:t>
            </a:r>
            <a:r>
              <a:rPr lang="en-NZ" dirty="0">
                <a:latin typeface="Amasis MT Pro Light" panose="02040304050005020304" pitchFamily="18" charset="0"/>
              </a:rPr>
              <a:t> Vue</a:t>
            </a:r>
            <a:r>
              <a:rPr lang="zh-CN" altLang="en-US" dirty="0">
                <a:latin typeface="Amasis MT Pro Light" panose="02040304050005020304" pitchFamily="18" charset="0"/>
              </a:rPr>
              <a:t>，</a:t>
            </a:r>
            <a:r>
              <a:rPr lang="en-NZ" dirty="0" err="1">
                <a:latin typeface="Amasis MT Pro Light" panose="02040304050005020304" pitchFamily="18" charset="0"/>
              </a:rPr>
              <a:t>只替换一个模块</a:t>
            </a:r>
            <a:r>
              <a:rPr lang="zh-CN" altLang="en-US" dirty="0">
                <a:latin typeface="Amasis MT Pro Light" panose="02040304050005020304" pitchFamily="18" charset="0"/>
              </a:rPr>
              <a:t>，</a:t>
            </a:r>
            <a:r>
              <a:rPr lang="en-NZ" dirty="0" err="1">
                <a:latin typeface="Amasis MT Pro Light" panose="02040304050005020304" pitchFamily="18" charset="0"/>
              </a:rPr>
              <a:t>新旧代码共存</a:t>
            </a:r>
            <a:r>
              <a:rPr lang="zh-CN" altLang="en-US" dirty="0">
                <a:latin typeface="Amasis MT Pro Light" panose="02040304050005020304" pitchFamily="18" charset="0"/>
              </a:rPr>
              <a:t>）</a:t>
            </a:r>
            <a:endParaRPr lang="en-NZ" dirty="0">
              <a:latin typeface="Amasis MT Pro Light" panose="02040304050005020304" pitchFamily="18" charset="0"/>
            </a:endParaRP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升级路径平滑</a:t>
            </a:r>
            <a:r>
              <a:rPr lang="zh-CN" altLang="en-US" dirty="0">
                <a:latin typeface="Amasis MT Pro Light" panose="02040304050005020304" pitchFamily="18" charset="0"/>
              </a:rPr>
              <a:t>（</a:t>
            </a:r>
            <a:r>
              <a:rPr lang="en-NZ" dirty="0">
                <a:latin typeface="Amasis MT Pro Light" panose="02040304050005020304" pitchFamily="18" charset="0"/>
              </a:rPr>
              <a:t>Vue 2 → Vue 3 </a:t>
            </a:r>
            <a:r>
              <a:rPr lang="en-NZ" dirty="0" err="1">
                <a:latin typeface="Amasis MT Pro Light" panose="02040304050005020304" pitchFamily="18" charset="0"/>
              </a:rPr>
              <a:t>提供了迁移构建版本和兼容工具，可以逐步迁移，不用一次性重写</a:t>
            </a:r>
            <a:r>
              <a:rPr lang="en-NZ" dirty="0">
                <a:latin typeface="Amasis MT Pro Light" panose="02040304050005020304" pitchFamily="18" charset="0"/>
              </a:rPr>
              <a:t>。)</a:t>
            </a:r>
          </a:p>
          <a:p>
            <a:pPr marL="514350" indent="-514350">
              <a:buFont typeface="+mj-lt"/>
              <a:buAutoNum type="arabicPeriod"/>
            </a:pPr>
            <a:r>
              <a:rPr lang="en-NZ" b="1" dirty="0" err="1">
                <a:latin typeface="Amasis MT Pro Light" panose="02040304050005020304" pitchFamily="18" charset="0"/>
              </a:rPr>
              <a:t>模板语法接近</a:t>
            </a:r>
            <a:r>
              <a:rPr lang="en-NZ" b="1" dirty="0">
                <a:latin typeface="Amasis MT Pro Light" panose="02040304050005020304" pitchFamily="18" charset="0"/>
              </a:rPr>
              <a:t> HTML</a:t>
            </a:r>
            <a:r>
              <a:rPr lang="zh-CN" altLang="en-US" b="1" dirty="0">
                <a:latin typeface="Amasis MT Pro Light" panose="02040304050005020304" pitchFamily="18" charset="0"/>
              </a:rPr>
              <a:t>，</a:t>
            </a:r>
            <a:r>
              <a:rPr lang="en-NZ" b="1" dirty="0" err="1">
                <a:latin typeface="Amasis MT Pro Light" panose="02040304050005020304" pitchFamily="18" charset="0"/>
              </a:rPr>
              <a:t>会写</a:t>
            </a:r>
            <a:r>
              <a:rPr lang="en-NZ" b="1" dirty="0">
                <a:latin typeface="Amasis MT Pro Light" panose="02040304050005020304" pitchFamily="18" charset="0"/>
              </a:rPr>
              <a:t> HTML </a:t>
            </a:r>
            <a:r>
              <a:rPr lang="en-NZ" b="1" dirty="0" err="1">
                <a:latin typeface="Amasis MT Pro Light" panose="02040304050005020304" pitchFamily="18" charset="0"/>
              </a:rPr>
              <a:t>就能上手</a:t>
            </a:r>
            <a:r>
              <a:rPr lang="zh-CN" altLang="en-US" b="1" dirty="0">
                <a:latin typeface="Amasis MT Pro Light" panose="02040304050005020304" pitchFamily="18" charset="0"/>
              </a:rPr>
              <a:t>。</a:t>
            </a:r>
            <a:endParaRPr lang="en-NZ" altLang="zh-CN" b="1" dirty="0">
              <a:latin typeface="Amasis MT Pro Light" panose="020403040500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NZ" b="1" dirty="0" err="1">
                <a:latin typeface="Amasis MT Pro Light" panose="02040304050005020304" pitchFamily="18" charset="0"/>
              </a:rPr>
              <a:t>部署简单</a:t>
            </a:r>
            <a:endParaRPr lang="en-NZ" b="1" dirty="0">
              <a:latin typeface="Amasis MT Pro Light" panose="02040304050005020304" pitchFamily="18" charset="0"/>
            </a:endParaRP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就是个静态</a:t>
            </a:r>
            <a:r>
              <a:rPr lang="en-NZ" dirty="0">
                <a:latin typeface="Amasis MT Pro Light" panose="02040304050005020304" pitchFamily="18" charset="0"/>
              </a:rPr>
              <a:t> HTML </a:t>
            </a:r>
            <a:r>
              <a:rPr lang="en-NZ" dirty="0" err="1">
                <a:latin typeface="Amasis MT Pro Light" panose="02040304050005020304" pitchFamily="18" charset="0"/>
              </a:rPr>
              <a:t>文件</a:t>
            </a:r>
            <a:endParaRPr lang="en-NZ" dirty="0">
              <a:latin typeface="Amasis MT Pro Light" panose="02040304050005020304" pitchFamily="18" charset="0"/>
            </a:endParaRP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丢到任何</a:t>
            </a:r>
            <a:r>
              <a:rPr lang="en-NZ" dirty="0">
                <a:latin typeface="Amasis MT Pro Light" panose="02040304050005020304" pitchFamily="18" charset="0"/>
              </a:rPr>
              <a:t> Web </a:t>
            </a:r>
            <a:r>
              <a:rPr lang="en-NZ" dirty="0" err="1">
                <a:latin typeface="Amasis MT Pro Light" panose="02040304050005020304" pitchFamily="18" charset="0"/>
              </a:rPr>
              <a:t>服务器（Nginx</a:t>
            </a:r>
            <a:r>
              <a:rPr lang="en-NZ" dirty="0">
                <a:latin typeface="Amasis MT Pro Light" panose="02040304050005020304" pitchFamily="18" charset="0"/>
              </a:rPr>
              <a:t> / Apache / </a:t>
            </a:r>
            <a:r>
              <a:rPr lang="en-NZ" dirty="0" err="1">
                <a:latin typeface="Amasis MT Pro Light" panose="02040304050005020304" pitchFamily="18" charset="0"/>
              </a:rPr>
              <a:t>Tomcat）都能跑</a:t>
            </a:r>
            <a:endParaRPr lang="en-NZ" b="1" dirty="0"/>
          </a:p>
          <a:p>
            <a:pPr marL="514350" indent="-514350">
              <a:buFont typeface="+mj-lt"/>
              <a:buAutoNum type="arabicPeriod"/>
            </a:pPr>
            <a:endParaRPr lang="en-NZ" b="1" dirty="0"/>
          </a:p>
          <a:p>
            <a:pPr marL="514350" indent="-514350">
              <a:buFont typeface="+mj-lt"/>
              <a:buAutoNum type="arabicPeriod"/>
            </a:pPr>
            <a:endParaRPr lang="en-NZ" dirty="0">
              <a:latin typeface="Amasis MT Pro Light" panose="020403040500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NZ" b="1" dirty="0"/>
          </a:p>
          <a:p>
            <a:pPr marL="514350" indent="-514350">
              <a:buFont typeface="+mj-lt"/>
              <a:buAutoNum type="arabicPeriod"/>
            </a:pPr>
            <a:endParaRPr lang="en-NZ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6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E015-9E94-D4CF-F535-A43CF6552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71" y="147485"/>
            <a:ext cx="11651225" cy="825909"/>
          </a:xfrm>
        </p:spPr>
        <p:txBody>
          <a:bodyPr>
            <a:normAutofit/>
          </a:bodyPr>
          <a:lstStyle/>
          <a:p>
            <a:pPr algn="ctr"/>
            <a:r>
              <a:rPr lang="en-NZ" sz="4000" dirty="0" err="1"/>
              <a:t>Springboot</a:t>
            </a:r>
            <a:r>
              <a:rPr lang="en-NZ" sz="4000" dirty="0"/>
              <a:t> </a:t>
            </a:r>
            <a:r>
              <a:rPr lang="zh-CN" altLang="en-US" sz="4000" dirty="0"/>
              <a:t>作为开发后端的独特优势</a:t>
            </a:r>
            <a:endParaRPr lang="en-NZ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CEF70-C7BE-98C7-9110-50F7E8CF2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0" y="973394"/>
            <a:ext cx="11651225" cy="518882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NZ" dirty="0" err="1">
                <a:latin typeface="Amasis MT Pro" panose="02040504050005020304" pitchFamily="18" charset="0"/>
              </a:rPr>
              <a:t>引入</a:t>
            </a:r>
            <a:r>
              <a:rPr lang="en-NZ" dirty="0">
                <a:latin typeface="Amasis MT Pro" panose="02040504050005020304" pitchFamily="18" charset="0"/>
              </a:rPr>
              <a:t> spring-boot-starter-web </a:t>
            </a:r>
            <a:r>
              <a:rPr lang="en-NZ" dirty="0" err="1">
                <a:latin typeface="Amasis MT Pro" panose="02040504050005020304" pitchFamily="18" charset="0"/>
              </a:rPr>
              <a:t>后，Tomcat、Jackson、Spring</a:t>
            </a:r>
            <a:r>
              <a:rPr lang="en-NZ" dirty="0">
                <a:latin typeface="Amasis MT Pro" panose="02040504050005020304" pitchFamily="18" charset="0"/>
              </a:rPr>
              <a:t> MVC </a:t>
            </a:r>
            <a:r>
              <a:rPr lang="en-NZ" dirty="0" err="1">
                <a:latin typeface="Amasis MT Pro" panose="02040504050005020304" pitchFamily="18" charset="0"/>
              </a:rPr>
              <a:t>自动装配好，一个</a:t>
            </a:r>
            <a:r>
              <a:rPr lang="en-NZ" dirty="0">
                <a:latin typeface="Amasis MT Pro" panose="02040504050005020304" pitchFamily="18" charset="0"/>
              </a:rPr>
              <a:t> main </a:t>
            </a:r>
            <a:r>
              <a:rPr lang="en-NZ" dirty="0" err="1">
                <a:latin typeface="Amasis MT Pro" panose="02040504050005020304" pitchFamily="18" charset="0"/>
              </a:rPr>
              <a:t>方法就能跑起来</a:t>
            </a:r>
            <a:r>
              <a:rPr lang="zh-CN" altLang="en-US" dirty="0">
                <a:latin typeface="Amasis MT Pro" panose="02040504050005020304" pitchFamily="18" charset="0"/>
              </a:rPr>
              <a:t>。</a:t>
            </a:r>
            <a:endParaRPr lang="en-NZ" altLang="zh-CN" dirty="0">
              <a:latin typeface="Amasis MT Pro" panose="020405040500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NZ" dirty="0" err="1">
                <a:latin typeface="Amasis MT Pro" panose="02040504050005020304" pitchFamily="18" charset="0"/>
              </a:rPr>
              <a:t>一站式依赖管理</a:t>
            </a:r>
            <a:r>
              <a:rPr lang="zh-CN" altLang="en-US" dirty="0">
                <a:latin typeface="Amasis MT Pro" panose="02040504050005020304" pitchFamily="18" charset="0"/>
              </a:rPr>
              <a:t>，</a:t>
            </a:r>
            <a:r>
              <a:rPr lang="en-NZ" dirty="0" err="1">
                <a:latin typeface="Amasis MT Pro" panose="02040504050005020304" pitchFamily="18" charset="0"/>
              </a:rPr>
              <a:t>自动化</a:t>
            </a:r>
            <a:r>
              <a:rPr lang="zh-CN" altLang="en-US" dirty="0">
                <a:latin typeface="Amasis MT Pro" panose="02040504050005020304" pitchFamily="18" charset="0"/>
              </a:rPr>
              <a:t>更完善。</a:t>
            </a:r>
            <a:r>
              <a:rPr lang="en-NZ" dirty="0"/>
              <a:t> </a:t>
            </a:r>
            <a:r>
              <a:rPr lang="zh-CN" altLang="en-US" dirty="0"/>
              <a:t>由</a:t>
            </a:r>
            <a:r>
              <a:rPr lang="en-NZ" dirty="0">
                <a:highlight>
                  <a:srgbClr val="FFFF00"/>
                </a:highlight>
              </a:rPr>
              <a:t>spring-boot-starter-* </a:t>
            </a:r>
            <a:r>
              <a:rPr lang="en-NZ" dirty="0" err="1">
                <a:latin typeface="Amasis MT Pro" panose="02040504050005020304" pitchFamily="18" charset="0"/>
              </a:rPr>
              <a:t>把一组相关依赖打包好，版本互相兼容，不用你自己去凑版本号</a:t>
            </a:r>
            <a:r>
              <a:rPr lang="en-NZ" dirty="0">
                <a:latin typeface="Amasis MT Pro" panose="02040504050005020304" pitchFamily="18" charset="0"/>
              </a:rPr>
              <a:t>。</a:t>
            </a:r>
          </a:p>
          <a:p>
            <a:pPr lvl="1"/>
            <a:r>
              <a:rPr lang="en-NZ" dirty="0" err="1">
                <a:latin typeface="Amasis MT Pro Light" panose="02040304050005020304" pitchFamily="18" charset="0"/>
              </a:rPr>
              <a:t>因为有父</a:t>
            </a:r>
            <a:r>
              <a:rPr lang="en-NZ" dirty="0">
                <a:latin typeface="Amasis MT Pro Light" panose="02040304050005020304" pitchFamily="18" charset="0"/>
              </a:rPr>
              <a:t> POM </a:t>
            </a:r>
            <a:r>
              <a:rPr lang="en-NZ" dirty="0" err="1">
                <a:latin typeface="Amasis MT Pro Light" panose="02040304050005020304" pitchFamily="18" charset="0"/>
              </a:rPr>
              <a:t>管版本</a:t>
            </a:r>
            <a:r>
              <a:rPr lang="en-NZ" dirty="0">
                <a:latin typeface="Amasis MT Pro Light" panose="02040304050005020304" pitchFamily="18" charset="0"/>
              </a:rPr>
              <a:t>，&lt;version&gt; </a:t>
            </a:r>
            <a:r>
              <a:rPr lang="en-NZ" dirty="0" err="1">
                <a:latin typeface="Amasis MT Pro Light" panose="02040304050005020304" pitchFamily="18" charset="0"/>
              </a:rPr>
              <a:t>通常可以省略</a:t>
            </a:r>
            <a:endParaRPr lang="en-NZ" dirty="0">
              <a:latin typeface="Amasis MT Pro Light" panose="020403040500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latin typeface="Amasis MT Pro" panose="02040504050005020304" pitchFamily="18" charset="0"/>
              </a:rPr>
              <a:t>使用</a:t>
            </a:r>
            <a:r>
              <a:rPr lang="en-NZ" dirty="0">
                <a:latin typeface="Amasis MT Pro" panose="02040504050005020304" pitchFamily="18" charset="0"/>
              </a:rPr>
              <a:t>Test </a:t>
            </a:r>
            <a:r>
              <a:rPr lang="en-NZ" dirty="0" err="1">
                <a:latin typeface="Amasis MT Pro" panose="02040504050005020304" pitchFamily="18" charset="0"/>
              </a:rPr>
              <a:t>Slices（测试切片</a:t>
            </a:r>
            <a:r>
              <a:rPr lang="en-NZ" dirty="0">
                <a:latin typeface="Amasis MT Pro" panose="02040504050005020304" pitchFamily="18" charset="0"/>
              </a:rPr>
              <a:t>），</a:t>
            </a:r>
            <a:r>
              <a:rPr lang="en-NZ" dirty="0" err="1">
                <a:latin typeface="Amasis MT Pro" panose="02040504050005020304" pitchFamily="18" charset="0"/>
              </a:rPr>
              <a:t>粒度随需而变</a:t>
            </a:r>
            <a:r>
              <a:rPr lang="zh-CN" altLang="en-US" dirty="0">
                <a:latin typeface="Amasis MT Pro" panose="02040504050005020304" pitchFamily="18" charset="0"/>
              </a:rPr>
              <a:t>。集成测试更方便，</a:t>
            </a:r>
            <a:r>
              <a:rPr lang="en-NZ" dirty="0">
                <a:latin typeface="Amasis MT Pro" panose="02040504050005020304" pitchFamily="18" charset="0"/>
              </a:rPr>
              <a:t> </a:t>
            </a:r>
            <a:r>
              <a:rPr lang="zh-CN" altLang="en-US" dirty="0">
                <a:latin typeface="Amasis MT Pro" panose="02040504050005020304" pitchFamily="18" charset="0"/>
              </a:rPr>
              <a:t>每一次测试时</a:t>
            </a:r>
            <a:r>
              <a:rPr lang="en-NZ" dirty="0" err="1">
                <a:latin typeface="Amasis MT Pro" panose="02040504050005020304" pitchFamily="18" charset="0"/>
              </a:rPr>
              <a:t>不需要每次都启动整个应用上下文，只</a:t>
            </a:r>
            <a:r>
              <a:rPr lang="zh-CN" altLang="en-US" dirty="0">
                <a:latin typeface="Amasis MT Pro" panose="02040504050005020304" pitchFamily="18" charset="0"/>
              </a:rPr>
              <a:t>需要</a:t>
            </a:r>
            <a:r>
              <a:rPr lang="en-NZ" dirty="0" err="1">
                <a:latin typeface="Amasis MT Pro" panose="02040504050005020304" pitchFamily="18" charset="0"/>
              </a:rPr>
              <a:t>启动你关心的那一层</a:t>
            </a:r>
            <a:endParaRPr lang="en-NZ" dirty="0">
              <a:latin typeface="Amasis MT Pro" panose="020405040500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1A95C-1D83-9AF3-B3A3-A430A7AF7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45" y="4734231"/>
            <a:ext cx="4471091" cy="17698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918004-6E64-DD73-FBE0-518D9F878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889" y="4085302"/>
            <a:ext cx="3892149" cy="270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96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810E-BB32-2017-F1DF-6552D91F5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642"/>
            <a:ext cx="10515600" cy="829494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数据库选用</a:t>
            </a:r>
            <a:r>
              <a:rPr lang="en-NZ" altLang="zh-CN" sz="4000" dirty="0"/>
              <a:t>MySQL</a:t>
            </a:r>
            <a:r>
              <a:rPr lang="zh-CN" altLang="en-US" sz="4000" dirty="0"/>
              <a:t>的独特优势</a:t>
            </a:r>
            <a:endParaRPr lang="en-NZ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D6BB6-D52B-4701-F7A6-E1D7222D7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7136"/>
            <a:ext cx="10515600" cy="512982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NZ" b="1" dirty="0" err="1">
                <a:latin typeface="Amasis MT Pro Light" panose="02040304050005020304" pitchFamily="18" charset="0"/>
              </a:rPr>
              <a:t>易用性高</a:t>
            </a:r>
            <a:r>
              <a:rPr lang="zh-CN" altLang="en-US" b="1" dirty="0">
                <a:latin typeface="Amasis MT Pro Light" panose="02040304050005020304" pitchFamily="18" charset="0"/>
              </a:rPr>
              <a:t>：</a:t>
            </a:r>
            <a:r>
              <a:rPr lang="en-NZ" b="1" dirty="0" err="1">
                <a:latin typeface="Amasis MT Pro Light" panose="02040304050005020304" pitchFamily="18" charset="0"/>
              </a:rPr>
              <a:t>安装配置简单，学习成本低，开发者可以快速上手</a:t>
            </a:r>
            <a:r>
              <a:rPr lang="zh-CN" altLang="en-US" b="1" dirty="0">
                <a:latin typeface="Amasis MT Pro Light" panose="02040304050005020304" pitchFamily="18" charset="0"/>
              </a:rPr>
              <a:t>。</a:t>
            </a:r>
            <a:endParaRPr lang="en-NZ" b="1" dirty="0">
              <a:latin typeface="Amasis MT Pro Light" panose="020403040500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NZ" b="1" dirty="0" err="1">
                <a:latin typeface="Amasis MT Pro Light" panose="02040304050005020304" pitchFamily="18" charset="0"/>
              </a:rPr>
              <a:t>免费开源</a:t>
            </a:r>
            <a:r>
              <a:rPr lang="zh-CN" altLang="en-US" b="1" dirty="0">
                <a:latin typeface="Amasis MT Pro Light" panose="02040304050005020304" pitchFamily="18" charset="0"/>
              </a:rPr>
              <a:t>：</a:t>
            </a:r>
            <a:r>
              <a:rPr lang="en-NZ" b="1" dirty="0" err="1">
                <a:latin typeface="Amasis MT Pro Light" panose="02040304050005020304" pitchFamily="18" charset="0"/>
              </a:rPr>
              <a:t>可以免费用于商业项目</a:t>
            </a:r>
            <a:r>
              <a:rPr lang="zh-CN" altLang="en-US" b="1" dirty="0">
                <a:latin typeface="Amasis MT Pro Light" panose="02040304050005020304" pitchFamily="18" charset="0"/>
              </a:rPr>
              <a:t>。</a:t>
            </a:r>
            <a:endParaRPr lang="en-NZ" b="1" dirty="0">
              <a:latin typeface="Amasis MT Pro Light" panose="020403040500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NZ" b="1" dirty="0" err="1">
                <a:latin typeface="Amasis MT Pro Light" panose="02040304050005020304" pitchFamily="18" charset="0"/>
              </a:rPr>
              <a:t>生态成熟：作为</a:t>
            </a:r>
            <a:r>
              <a:rPr lang="en-NZ" b="1" dirty="0">
                <a:latin typeface="Amasis MT Pro Light" panose="02040304050005020304" pitchFamily="18" charset="0"/>
              </a:rPr>
              <a:t> </a:t>
            </a:r>
            <a:r>
              <a:rPr lang="en-NZ" b="1" dirty="0" err="1">
                <a:latin typeface="Amasis MT Pro Light" panose="02040304050005020304" pitchFamily="18" charset="0"/>
              </a:rPr>
              <a:t>LAMP（Linux</a:t>
            </a:r>
            <a:r>
              <a:rPr lang="en-NZ" b="1" dirty="0">
                <a:latin typeface="Amasis MT Pro Light" panose="02040304050005020304" pitchFamily="18" charset="0"/>
              </a:rPr>
              <a:t>, Apache, MySQL, PHP/</a:t>
            </a:r>
            <a:r>
              <a:rPr lang="en-NZ" b="1" dirty="0" err="1">
                <a:latin typeface="Amasis MT Pro Light" panose="02040304050005020304" pitchFamily="18" charset="0"/>
              </a:rPr>
              <a:t>Python）架构的核心组件，它拥有全球最庞大的开发者社区之一，遇到问题</a:t>
            </a:r>
            <a:r>
              <a:rPr lang="zh-CN" altLang="en-US" b="1" dirty="0">
                <a:latin typeface="Amasis MT Pro Light" panose="02040304050005020304" pitchFamily="18" charset="0"/>
              </a:rPr>
              <a:t>易于</a:t>
            </a:r>
            <a:r>
              <a:rPr lang="en-NZ" b="1" dirty="0" err="1">
                <a:latin typeface="Amasis MT Pro Light" panose="02040304050005020304" pitchFamily="18" charset="0"/>
              </a:rPr>
              <a:t>找到现成的解决方案和工具（如</a:t>
            </a:r>
            <a:r>
              <a:rPr lang="en-NZ" b="1" dirty="0">
                <a:latin typeface="Amasis MT Pro Light" panose="02040304050005020304" pitchFamily="18" charset="0"/>
              </a:rPr>
              <a:t> MySQL Workbench）</a:t>
            </a:r>
            <a:r>
              <a:rPr lang="zh-CN" altLang="en-US" b="1" dirty="0">
                <a:latin typeface="Amasis MT Pro Light" panose="02040304050005020304" pitchFamily="18" charset="0"/>
              </a:rPr>
              <a:t>。</a:t>
            </a:r>
            <a:endParaRPr lang="en-NZ" b="1" dirty="0">
              <a:latin typeface="Amasis MT Pro Light" panose="020403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310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E072-9306-2C63-6E77-4389312F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727"/>
          </a:xfrm>
        </p:spPr>
        <p:txBody>
          <a:bodyPr/>
          <a:lstStyle/>
          <a:p>
            <a:pPr algn="ctr"/>
            <a:r>
              <a:rPr lang="en-US" altLang="zh-CN" dirty="0">
                <a:solidFill>
                  <a:schemeClr val="tx2"/>
                </a:solidFill>
              </a:rPr>
              <a:t>Architectural Design Diagram</a:t>
            </a:r>
            <a:endParaRPr lang="en-NZ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61FD818-72D1-5FBF-FE43-0D4FD7FF6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3603" y="1356852"/>
            <a:ext cx="8364794" cy="525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73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7EE0B-3226-A26F-9D59-641DA60C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4965"/>
          </a:xfrm>
        </p:spPr>
        <p:txBody>
          <a:bodyPr/>
          <a:lstStyle/>
          <a:p>
            <a:r>
              <a:rPr lang="en-US" altLang="zh-CN" dirty="0"/>
              <a:t>Next Step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42584-4CF6-7BE6-8ACA-7C369E6EA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090"/>
            <a:ext cx="10515600" cy="4581936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NZ" dirty="0"/>
              <a:t>Practise more for this meeting. </a:t>
            </a:r>
          </a:p>
          <a:p>
            <a:pPr marL="514350" indent="-514350">
              <a:buAutoNum type="arabicPeriod"/>
            </a:pPr>
            <a:r>
              <a:rPr lang="en-NZ" dirty="0"/>
              <a:t>Prepare environment and tools. </a:t>
            </a:r>
          </a:p>
          <a:p>
            <a:pPr marL="514350" indent="-514350">
              <a:buAutoNum type="arabicPeriod"/>
            </a:pPr>
            <a:r>
              <a:rPr lang="en-NZ" dirty="0"/>
              <a:t>Initialize a </a:t>
            </a:r>
            <a:r>
              <a:rPr lang="en-NZ" dirty="0" err="1"/>
              <a:t>SpringBoot</a:t>
            </a:r>
            <a:r>
              <a:rPr lang="en-NZ" dirty="0"/>
              <a:t> project and Vue.js. (Refer to setting env&amp;tool.docx)</a:t>
            </a:r>
          </a:p>
          <a:p>
            <a:pPr marL="514350" indent="-514350">
              <a:buAutoNum type="arabicPeriod"/>
            </a:pPr>
            <a:r>
              <a:rPr lang="en-NZ" dirty="0"/>
              <a:t>Database design(name, fields, PK, FK, relationships)</a:t>
            </a:r>
          </a:p>
          <a:p>
            <a:pPr marL="514350" indent="-514350">
              <a:buAutoNum type="arabicPeriod"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94992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1345</TotalTime>
  <Words>497</Words>
  <Application>Microsoft Office PowerPoint</Application>
  <PresentationFormat>Widescreen</PresentationFormat>
  <Paragraphs>63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Amasis MT Pro</vt:lpstr>
      <vt:lpstr>Amasis MT Pro Light</vt:lpstr>
      <vt:lpstr>Aptos</vt:lpstr>
      <vt:lpstr>Aptos Display</vt:lpstr>
      <vt:lpstr>Arial</vt:lpstr>
      <vt:lpstr>Office Theme</vt:lpstr>
      <vt:lpstr>Architectural Design</vt:lpstr>
      <vt:lpstr>Agenda</vt:lpstr>
      <vt:lpstr>前后端分离的好处</vt:lpstr>
      <vt:lpstr>Backend Platform</vt:lpstr>
      <vt:lpstr>Frontend Platform:</vt:lpstr>
      <vt:lpstr>Vue.js 作为开发前端的独特优势</vt:lpstr>
      <vt:lpstr>Springboot 作为开发后端的独特优势</vt:lpstr>
      <vt:lpstr>数据库选用MySQL的独特优势</vt:lpstr>
      <vt:lpstr>Architectural Design Diagram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Xin</dc:creator>
  <cp:lastModifiedBy>Haoran Xin</cp:lastModifiedBy>
  <cp:revision>161</cp:revision>
  <dcterms:created xsi:type="dcterms:W3CDTF">2026-09-10T21:14:13Z</dcterms:created>
  <dcterms:modified xsi:type="dcterms:W3CDTF">2026-09-14T08:31:07Z</dcterms:modified>
</cp:coreProperties>
</file>